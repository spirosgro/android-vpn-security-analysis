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df9407fa8e44db" /><Relationship Type="http://schemas.openxmlformats.org/officeDocument/2006/relationships/extended-properties" Target="/docProps/app.xml" Id="R288e7c1a3e2f4e30" /><Relationship Type="http://schemas.openxmlformats.org/officeDocument/2006/relationships/officeDocument" Target="/ppt/presentation.xml" Id="Rb5580efe13634b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c1b9305f5149b0"/>
  </p:sldMasterIdLst>
  <p:notesMasterIdLst>
    <p:notesMasterId xmlns:r="http://schemas.openxmlformats.org/officeDocument/2006/relationships" r:id="R901b86c3b5994f88"/>
  </p:notesMasterIdLst>
  <p:sldIdLst>
    <p:sldId xmlns:r="http://schemas.openxmlformats.org/officeDocument/2006/relationships" id="256" r:id="R9fc08ed72a0f451a"/>
    <p:sldId xmlns:r="http://schemas.openxmlformats.org/officeDocument/2006/relationships" id="257" r:id="R3ba6f2b797974d30"/>
    <p:sldId xmlns:r="http://schemas.openxmlformats.org/officeDocument/2006/relationships" id="258" r:id="R8e33d963f2504bcb"/>
    <p:sldId xmlns:r="http://schemas.openxmlformats.org/officeDocument/2006/relationships" id="259" r:id="R06bb9f3bcfc14dbc"/>
    <p:sldId xmlns:r="http://schemas.openxmlformats.org/officeDocument/2006/relationships" id="260" r:id="R0474758220024225"/>
    <p:sldId xmlns:r="http://schemas.openxmlformats.org/officeDocument/2006/relationships" id="261" r:id="R3c6913584b1c4186"/>
    <p:sldId xmlns:r="http://schemas.openxmlformats.org/officeDocument/2006/relationships" id="262" r:id="R1a007af4d6db4309"/>
    <p:sldId xmlns:r="http://schemas.openxmlformats.org/officeDocument/2006/relationships" id="263" r:id="Rd8b34580b8b147b9"/>
    <p:sldId xmlns:r="http://schemas.openxmlformats.org/officeDocument/2006/relationships" id="264" r:id="R1c2a3d7a3c924e0f"/>
    <p:sldId xmlns:r="http://schemas.openxmlformats.org/officeDocument/2006/relationships" id="265" r:id="Rcd82d5a2f4d448e3"/>
    <p:sldId xmlns:r="http://schemas.openxmlformats.org/officeDocument/2006/relationships" id="266" r:id="R4c291ae5e9b441e2"/>
    <p:sldId xmlns:r="http://schemas.openxmlformats.org/officeDocument/2006/relationships" id="267" r:id="R9214a2720128493d"/>
    <p:sldId xmlns:r="http://schemas.openxmlformats.org/officeDocument/2006/relationships" id="268" r:id="R232e2f86abc84185"/>
    <p:sldId xmlns:r="http://schemas.openxmlformats.org/officeDocument/2006/relationships" id="269" r:id="R45a95b0009c6482a"/>
    <p:sldId xmlns:r="http://schemas.openxmlformats.org/officeDocument/2006/relationships" id="270" r:id="R39ca1aae644b4dae"/>
    <p:sldId xmlns:r="http://schemas.openxmlformats.org/officeDocument/2006/relationships" id="271" r:id="R38c41923407547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ca874c11a24a92" /><Relationship Type="http://schemas.openxmlformats.org/officeDocument/2006/relationships/slideMaster" Target="/ppt/slideMasters/slideMaster1.xml" Id="Rc6c1b9305f5149b0" /><Relationship Type="http://schemas.openxmlformats.org/officeDocument/2006/relationships/notesMaster" Target="/ppt/notesMasters/notesMaster1.xml" Id="R901b86c3b5994f88" /><Relationship Type="http://schemas.openxmlformats.org/officeDocument/2006/relationships/presProps" Target="/ppt/presProps.xml" Id="R9c15e55f881c4c58" /><Relationship Type="http://schemas.openxmlformats.org/officeDocument/2006/relationships/tableStyles" Target="/ppt/tableStyles.xml" Id="R6f45d0143a8e455e" /><Relationship Type="http://schemas.openxmlformats.org/officeDocument/2006/relationships/slide" Target="/ppt/slides/slide1.xml" Id="R9fc08ed72a0f451a" /><Relationship Type="http://schemas.openxmlformats.org/officeDocument/2006/relationships/slide" Target="/ppt/slides/slide2.xml" Id="R3ba6f2b797974d30" /><Relationship Type="http://schemas.openxmlformats.org/officeDocument/2006/relationships/slide" Target="/ppt/slides/slide3.xml" Id="R8e33d963f2504bcb" /><Relationship Type="http://schemas.openxmlformats.org/officeDocument/2006/relationships/slide" Target="/ppt/slides/slide4.xml" Id="R06bb9f3bcfc14dbc" /><Relationship Type="http://schemas.openxmlformats.org/officeDocument/2006/relationships/slide" Target="/ppt/slides/slide5.xml" Id="R0474758220024225" /><Relationship Type="http://schemas.openxmlformats.org/officeDocument/2006/relationships/slide" Target="/ppt/slides/slide6.xml" Id="R3c6913584b1c4186" /><Relationship Type="http://schemas.openxmlformats.org/officeDocument/2006/relationships/slide" Target="/ppt/slides/slide7.xml" Id="R1a007af4d6db4309" /><Relationship Type="http://schemas.openxmlformats.org/officeDocument/2006/relationships/slide" Target="/ppt/slides/slide8.xml" Id="Rd8b34580b8b147b9" /><Relationship Type="http://schemas.openxmlformats.org/officeDocument/2006/relationships/slide" Target="/ppt/slides/slide9.xml" Id="R1c2a3d7a3c924e0f" /><Relationship Type="http://schemas.openxmlformats.org/officeDocument/2006/relationships/slide" Target="/ppt/slides/slide10.xml" Id="Rcd82d5a2f4d448e3" /><Relationship Type="http://schemas.openxmlformats.org/officeDocument/2006/relationships/slide" Target="/ppt/slides/slide11.xml" Id="R4c291ae5e9b441e2" /><Relationship Type="http://schemas.openxmlformats.org/officeDocument/2006/relationships/slide" Target="/ppt/slides/slide12.xml" Id="R9214a2720128493d" /><Relationship Type="http://schemas.openxmlformats.org/officeDocument/2006/relationships/slide" Target="/ppt/slides/slide13.xml" Id="R232e2f86abc84185" /><Relationship Type="http://schemas.openxmlformats.org/officeDocument/2006/relationships/slide" Target="/ppt/slides/slide14.xml" Id="R45a95b0009c6482a" /><Relationship Type="http://schemas.openxmlformats.org/officeDocument/2006/relationships/slide" Target="/ppt/slides/slide15.xml" Id="R39ca1aae644b4dae" /><Relationship Type="http://schemas.openxmlformats.org/officeDocument/2006/relationships/slide" Target="/ppt/slides/slide16.xml" Id="R38c41923407547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13c5408aab48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1530316d8e4df6" /><Relationship Type="http://schemas.openxmlformats.org/officeDocument/2006/relationships/notesMaster" Target="/ppt/notesMasters/notesMaster1.xml" Id="R0c4812f5534043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a8caaa38a841ba" /><Relationship Type="http://schemas.openxmlformats.org/officeDocument/2006/relationships/notesMaster" Target="/ppt/notesMasters/notesMaster1.xml" Id="R1b76217218d743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65ddb2c04a4d82" /><Relationship Type="http://schemas.openxmlformats.org/officeDocument/2006/relationships/notesMaster" Target="/ppt/notesMasters/notesMaster1.xml" Id="R31adc39256254b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630118bef64ca2" /><Relationship Type="http://schemas.openxmlformats.org/officeDocument/2006/relationships/notesMaster" Target="/ppt/notesMasters/notesMaster1.xml" Id="Rc03b233740754b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c328e17796424f" /><Relationship Type="http://schemas.openxmlformats.org/officeDocument/2006/relationships/notesMaster" Target="/ppt/notesMasters/notesMaster1.xml" Id="R19e35ace139c43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6023fcb28a40cb" /><Relationship Type="http://schemas.openxmlformats.org/officeDocument/2006/relationships/notesMaster" Target="/ppt/notesMasters/notesMaster1.xml" Id="R99ec11940d8441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8c0f2509164803" /><Relationship Type="http://schemas.openxmlformats.org/officeDocument/2006/relationships/notesMaster" Target="/ppt/notesMasters/notesMaster1.xml" Id="R4f6336ccdace42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bd911520bf4017" /><Relationship Type="http://schemas.openxmlformats.org/officeDocument/2006/relationships/notesMaster" Target="/ppt/notesMasters/notesMaster1.xml" Id="R1f8ed603f4b64f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b419c5e7054604" /><Relationship Type="http://schemas.openxmlformats.org/officeDocument/2006/relationships/notesMaster" Target="/ppt/notesMasters/notesMaster1.xml" Id="Rf039e36d8ae244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43b2b66078475e" /><Relationship Type="http://schemas.openxmlformats.org/officeDocument/2006/relationships/notesMaster" Target="/ppt/notesMasters/notesMaster1.xml" Id="R1170798508c74f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b8568d69344553" /><Relationship Type="http://schemas.openxmlformats.org/officeDocument/2006/relationships/notesMaster" Target="/ppt/notesMasters/notesMaster1.xml" Id="R064f748d09db4a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fa4b88aa8d40db" /><Relationship Type="http://schemas.openxmlformats.org/officeDocument/2006/relationships/notesMaster" Target="/ppt/notesMasters/notesMaster1.xml" Id="R5562a3ece0ed4f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3d6f8b49b046ee" /><Relationship Type="http://schemas.openxmlformats.org/officeDocument/2006/relationships/notesMaster" Target="/ppt/notesMasters/notesMaster1.xml" Id="Ra69a6de64e8542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e624fdbf394b2a" /><Relationship Type="http://schemas.openxmlformats.org/officeDocument/2006/relationships/notesMaster" Target="/ppt/notesMasters/notesMaster1.xml" Id="R02bb801294d04f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26fa1852904afa" /><Relationship Type="http://schemas.openxmlformats.org/officeDocument/2006/relationships/notesMaster" Target="/ppt/notesMasters/notesMaster1.xml" Id="Rfa0d1791acba4a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634d91854e4225" /><Relationship Type="http://schemas.openxmlformats.org/officeDocument/2006/relationships/notesMaster" Target="/ppt/notesMasters/notesMaster1.xml" Id="R9c0dee1393cf48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visual: original AI-generated illustration created for this portfolio edition. It contains no vendor logo or product representation.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historical number in the repository is labeled reported_unverified.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Archived coursework presentation inspected locally.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Percentages map to whole counts in a 20-app cohort, but the underlying reports are unavailable.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 data: data/results/reported_findings.csv.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Claim audit: docs/claim-audit.md.</a:t>
            </a:r>
          </a:p>
          <a:p xmlns:a="http://schemas.openxmlformats.org/drawingml/2006/main">
            <a:r>
              <a:t>- NIST hash-function policy: https://csrc.nist.gov/Projects/Hash-Functions/NIST-Policy-on-Hash-Functions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Methodology: docs/methodology.md.</a:t>
            </a:r>
          </a:p>
          <a:p xmlns:a="http://schemas.openxmlformats.org/drawingml/2006/main">
            <a:r>
              <a:t>- MobSF documentation: https://mobsf.github.io/docs/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Evidence model documented in docs/methodology.md.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Android VPN guide: https://developer.android.com/develop/connectivity/vpn</a:t>
            </a:r>
          </a:p>
          <a:p xmlns:a="http://schemas.openxmlformats.org/drawingml/2006/main">
            <a:r>
              <a:t>- VpnService API: https://developer.android.com/reference/android/net/VpnService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Threat model: docs/threat-model.md.</a:t>
            </a:r>
          </a:p>
          <a:p xmlns:a="http://schemas.openxmlformats.org/drawingml/2006/main">
            <a:r>
              <a:t>- OWASP MASVS: https://mas.owasp.org/MASVS/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Android VpnService API: https://developer.android.com/reference/android/net/VpnService</a:t>
            </a:r>
          </a:p>
          <a:p xmlns:a="http://schemas.openxmlformats.org/drawingml/2006/main">
            <a:r>
              <a:t>- Claim audit: docs/claim-audit.md.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NIST hash-function policy: https://csrc.nist.gov/Projects/Hash-Functions/NIST-Policy-on-Hash-Functions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OWASP MASVS: https://mas.owasp.org/MASVS/</a:t>
            </a:r>
          </a:p>
          <a:p xmlns:a="http://schemas.openxmlformats.org/drawingml/2006/main">
            <a:r>
              <a:t>- Reported aggregate: data/results/reported_findings.csv.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Remediation backlog: docs/remediation-backlog.md.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Reproducibility guide: docs/reproducibility.md.</a:t>
            </a:r>
          </a:p>
          <a:p xmlns:a="http://schemas.openxmlformats.org/drawingml/2006/main">
            <a:r>
              <a:t>- Normalizer: src/normalize_mobsf_report.py.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Implementation sequence: docs/reproducibility.md and the technical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Complete references: docs/references.md.</a:t>
            </a:r>
          </a:p>
          <a:p xmlns:a="http://schemas.openxmlformats.org/drawingml/2006/main">
            <a:r>
              <a:t>- Licensing: code under MIT; original written and visual material under the terms in LICENSE.md.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6b8303fff24d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13273804f4d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81496fffc43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9f5a3bedfd46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f6184eedd142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664301e84b49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C92661-FE07-4D52-9E55-145AC03D29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7B6ACAF-9F27-4FBA-8B08-59E6465D23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0D28EB5-6E6F-4726-87F0-89B9C6ACC5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8482CC-06BA-4092-A325-7A8CB373E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7A6BB06-E9FF-403D-B49D-5EE62244B6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7157201-DEC8-40E3-BEE7-2A4FE271B7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5C729B-58EC-43AD-89E2-68EE636B55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0599324-A47D-4F5D-A673-CDB69823B8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A49DA1-180B-46CE-9B7A-4D37C69E64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67995F-29D9-4C5B-9FED-5D3739A285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39d3ef7a8e4a76" /><Relationship Type="http://schemas.openxmlformats.org/officeDocument/2006/relationships/slideLayout" Target="/ppt/slideLayouts/slideLayout1.xml" Id="R9139a337c8834860" /><Relationship Type="http://schemas.openxmlformats.org/officeDocument/2006/relationships/slideLayout" Target="/ppt/slideLayouts/slideLayout2.xml" Id="Rc5dda0f62d404eb6" /><Relationship Type="http://schemas.openxmlformats.org/officeDocument/2006/relationships/slideLayout" Target="/ppt/slideLayouts/slideLayout3.xml" Id="R9b6cb206afc64bba" /><Relationship Type="http://schemas.openxmlformats.org/officeDocument/2006/relationships/slideLayout" Target="/ppt/slideLayouts/slideLayout4.xml" Id="R9b6895e60ee14588" /><Relationship Type="http://schemas.openxmlformats.org/officeDocument/2006/relationships/slideLayout" Target="/ppt/slideLayouts/slideLayout5.xml" Id="R88faecc692b74db9" /><Relationship Type="http://schemas.openxmlformats.org/officeDocument/2006/relationships/slideLayout" Target="/ppt/slideLayouts/slideLayout6.xml" Id="R8bcd7cf73ef642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39a337c8834860"/>
    <p:sldLayoutId xmlns:r="http://schemas.openxmlformats.org/officeDocument/2006/relationships" id="2147483650" r:id="Rc5dda0f62d404eb6"/>
    <p:sldLayoutId xmlns:r="http://schemas.openxmlformats.org/officeDocument/2006/relationships" id="2147483651" r:id="R9b6cb206afc64bba"/>
    <p:sldLayoutId xmlns:r="http://schemas.openxmlformats.org/officeDocument/2006/relationships" id="2147483652" r:id="R9b6895e60ee14588"/>
    <p:sldLayoutId xmlns:r="http://schemas.openxmlformats.org/officeDocument/2006/relationships" id="2147483653" r:id="R88faecc692b74db9"/>
    <p:sldLayoutId xmlns:r="http://schemas.openxmlformats.org/officeDocument/2006/relationships" id="2147483654" r:id="R8bcd7cf73ef642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a2c5d128504da8" /><Relationship Type="http://schemas.openxmlformats.org/officeDocument/2006/relationships/image" Target="/ppt/media/image.png" Id="Re3e506d0019042fa" /><Relationship Type="http://schemas.openxmlformats.org/officeDocument/2006/relationships/notesSlide" Target="/ppt/notesSlides/notesSlide1.xml" Id="R699bcd56948149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74ed99f0fb4ef4" /><Relationship Type="http://schemas.openxmlformats.org/officeDocument/2006/relationships/notesSlide" Target="/ppt/notesSlides/notesSlide2.xml" Id="Ra254b8a55bc94d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b5aab11cd64b63" /><Relationship Type="http://schemas.openxmlformats.org/officeDocument/2006/relationships/notesSlide" Target="/ppt/notesSlides/notesSlide3.xml" Id="Rc06514c059514c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a956a2a2742d6" /><Relationship Type="http://schemas.openxmlformats.org/officeDocument/2006/relationships/chart" Target="/ppt/slides/charts/chart1.xml" Id="Rfab5f8e2250f456d" /><Relationship Type="http://schemas.openxmlformats.org/officeDocument/2006/relationships/notesSlide" Target="/ppt/notesSlides/notesSlide4.xml" Id="Rc25ce59a40af4f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7f387fd7fa4dbc" /><Relationship Type="http://schemas.openxmlformats.org/officeDocument/2006/relationships/notesSlide" Target="/ppt/notesSlides/notesSlide5.xml" Id="Rb2042be2db064e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0528a3993844c5" /><Relationship Type="http://schemas.openxmlformats.org/officeDocument/2006/relationships/notesSlide" Target="/ppt/notesSlides/notesSlide6.xml" Id="Rf7692fed46c243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980b774f874dd1" /><Relationship Type="http://schemas.openxmlformats.org/officeDocument/2006/relationships/notesSlide" Target="/ppt/notesSlides/notesSlide7.xml" Id="Rd1249900d87646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7af257afcd4dc6" /><Relationship Type="http://schemas.openxmlformats.org/officeDocument/2006/relationships/notesSlide" Target="/ppt/notesSlides/notesSlide8.xml" Id="R92b149fd1b2447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2de516e8fb46f1" /><Relationship Type="http://schemas.openxmlformats.org/officeDocument/2006/relationships/notesSlide" Target="/ppt/notesSlides/notesSlide9.xml" Id="Re1b771e31ced45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3eab14f69745e2" /><Relationship Type="http://schemas.openxmlformats.org/officeDocument/2006/relationships/notesSlide" Target="/ppt/notesSlides/notesSlide10.xml" Id="Rab488d66a5424a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964a3b47e64966" /><Relationship Type="http://schemas.openxmlformats.org/officeDocument/2006/relationships/notesSlide" Target="/ppt/notesSlides/notesSlide11.xml" Id="R391864920d8942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37983487fe4ffc" /><Relationship Type="http://schemas.openxmlformats.org/officeDocument/2006/relationships/notesSlide" Target="/ppt/notesSlides/notesSlide12.xml" Id="R019bb016e65240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f70cf176e44218" /><Relationship Type="http://schemas.openxmlformats.org/officeDocument/2006/relationships/notesSlide" Target="/ppt/notesSlides/notesSlide13.xml" Id="Rf1a14503e18744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74d8a74ea44822" /><Relationship Type="http://schemas.openxmlformats.org/officeDocument/2006/relationships/notesSlide" Target="/ppt/notesSlides/notesSlide14.xml" Id="Re8f18368c0d242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fd6db03d4f4c6f" /><Relationship Type="http://schemas.openxmlformats.org/officeDocument/2006/relationships/notesSlide" Target="/ppt/notesSlides/notesSlide15.xml" Id="R3499be6dd7604de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3a57c3543f46be" /><Relationship Type="http://schemas.openxmlformats.org/officeDocument/2006/relationships/notesSlide" Target="/ppt/notesSlides/notesSlide16.xml" Id="R81f2cef1eba9452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Reported share of apps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F59E0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E88E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44536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0B8D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0E3154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Possible secrets</c:v>
                </c:pt>
                <c:pt idx="1">
                  <c:v>SHA-1</c:v>
                </c:pt>
                <c:pt idx="2">
                  <c:v>Cleartext indicator</c:v>
                </c:pt>
                <c:pt idx="3">
                  <c:v>MD5</c:v>
                </c:pt>
                <c:pt idx="4">
                  <c:v>RSA &lt;2048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75</c:v>
                </c:pt>
                <c:pt idx="1">
                  <c:v>55</c:v>
                </c:pt>
                <c:pt idx="2">
                  <c:v>45</c:v>
                </c:pt>
                <c:pt idx="3">
                  <c:v>40</c:v>
                </c:pt>
                <c:pt idx="4">
                  <c:v>20</c:v>
                </c:pt>
              </c:numCache>
            </c:numRef>
          </c:val>
        </c:ser>
        <c:dLbls>
          <c:numFmt formatCode="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1263A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4F8FC"/>
    </a:solidFill>
    <a:ln xmlns:a="http://schemas.openxmlformats.org/drawingml/2006/main" w="0">
      <a:solidFill>
        <a:srgbClr val="F4F8FC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E2102-DF4B-4AC7-95A1-2D9A19D838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506d0019042fa"/>
          <a:srcRect xmlns:a="http://schemas.openxmlformats.org/drawingml/2006/main" l="19515" t="0" r="195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4BF73-DACD-4561-BB47-4A5C9767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6C8C9-1ECA-4831-8AA5-97A99D38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846F9-4354-4A42-99EB-D1707314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0B8D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B8D9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00B8D9"/>
                </a:solidFill>
                <a:latin typeface="Segoe UI"/>
                <a:ea typeface="Segoe UI"/>
                <a:cs typeface="Segoe UI"/>
              </a:rPr>
              <a:t>ANDROID VPN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F7520-622E-4099-973F-0AFD5429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191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9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9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Application</a:t>
            </a:r>
          </a:p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9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Security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201B5-CC60-421A-A371-4BE31178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4E5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4E5F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4E5F4"/>
                </a:solidFill>
                <a:latin typeface="Segoe UI"/>
                <a:ea typeface="Segoe UI"/>
                <a:cs typeface="Segoe UI"/>
              </a:rPr>
              <a:t>MobSF static analysis, evidence audit, threat model, and remediation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8448C-7297-4861-94FF-9D6C4819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SPIROS GROUZTIDIS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7EAAF-687E-4101-8537-1BAE1B45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l">
              <a:defRPr sz="1050" b="0">
                <a:solidFill>
                  <a:srgbClr val="A9C2D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A9C2D8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A9C2D8"/>
                </a:solidFill>
                <a:latin typeface="Segoe UI"/>
                <a:ea typeface="Segoe UI"/>
                <a:cs typeface="Segoe UI"/>
              </a:rPr>
              <a:t>Public portfolio edition  |  October 2026</a:t>
            </a:r>
          </a:p>
        </p:txBody>
      </p:sp>
    </p:spTree>
    <p:extLst>
      <p:ext uri="{BB962C8B-B14F-4D97-AF65-F5344CB8AC3E}">
        <p14:creationId xmlns:p14="http://schemas.microsoft.com/office/powerpoint/2010/main" val="13026811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83B018-395A-4528-A98A-DE884274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C0528-E6E0-4741-B7E2-920609BF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E2B11-2692-43B8-B040-BA51858A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The study in five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499D8-DA5A-475B-9E9E-C6468390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0D421-0250-4217-AC7C-BEE22C7B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ANDROID VPN APPLICATION 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27DFA-1FA1-422B-A643-528C7F5C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57E2C-6C4D-4854-ABCD-9974DC77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621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>
            <a:defPPr algn="l">
              <a:defRPr sz="18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What evidence survived?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65BFA-ABD6-4BF4-A682-AEFD75F7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811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Archived aggregates and the limits of the source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EA878-8A9B-4111-8340-39781F14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478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478AD-A2E1-4529-B31C-A6F40F5C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645F1-E01C-4F74-A889-A867DCAC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38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>
            <a:defPPr algn="l">
              <a:defRPr sz="18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How should static findings be interpreted?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C914C-4B50-4755-B824-03A7585B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Indicators, validation, and current control mapping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F5FCD-4D7E-44F2-9289-9407A5B9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241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F32BC-45F4-4444-BE52-25AF1A71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BC543-BC4C-4C4B-A7F1-E788F38B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147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>
            <a:defPPr algn="l">
              <a:defRPr sz="18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What does an Android VPN expose?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272E5-7E27-428A-A542-EB5D1992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Trust boundaries, abuse cases, and runtime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CEC87-BC35-4261-BF7F-C40CCBDB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004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49646-A5F6-4B97-B852-A462F76E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67A5D1-C851-4BD0-BFB7-ADE4132B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>
            <a:defPPr algn="l">
              <a:defRPr sz="18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How should remediation be prioritized?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1AFB35-16D2-4E05-BD57-DA816A10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Impact, exposure, evidence, and closure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C564E4-25C1-4C5D-9EC4-25309042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767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6B21CA-E7E8-4A3E-AD9E-F6B0EFFB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F8B07C-AD78-4C1A-B31B-DE5D22AB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673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>
            <a:defPPr algn="l">
              <a:defRPr sz="18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How can the work be reproduced?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606DE3-F67E-4FF6-AA1C-D3E78F92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86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14"/>
          </a:bodyPr>
          <a:lstStyle xmlns:a="http://schemas.openxmlformats.org/drawingml/2006/main">
            <a:defPPr algn="l">
              <a:defRPr sz="1350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Pinned tooling, private evidence, code, and a homelab run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1A72AB-5C00-4751-B89D-1104E7F8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530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5465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40454-5DB9-40F4-960D-03B44765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28AC4-2E30-41C8-BE47-0A064D08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EVIDENCE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D2825-CFCC-4189-A74D-6E4DFCAF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The aggregate results are useful, but not reproducible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E231F-2F75-435F-AF36-DBAB6590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8418E-324C-4A36-8507-EEDD7C59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ANDROID VPN APPLICATION 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AAC17-4CDA-4C7D-816B-0751830A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581"/>
          </a:bodyPr>
          <a:lstStyle xmlns:a="http://schemas.openxmlformats.org/drawingml/2006/main">
            <a:defPPr algn="l">
              <a:defRPr sz="58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585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95F20-503B-4B2F-8F1B-E4E24C6A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65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applications in the archived cohort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3DAF6-37E5-4282-9199-C6971D85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657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The original APK hashes, app versions, JSON reports, scan timestamps, configuration, and analyst notes were not found.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7B75D-7138-4090-AD6F-3F0EB876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0306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7D5BD-B97D-4CA2-A072-E5220709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F9D7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F9D7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F9D75"/>
                </a:solidFill>
                <a:latin typeface="Segoe UI"/>
                <a:ea typeface="Segoe UI"/>
                <a:cs typeface="Segoe UI"/>
              </a:rPr>
              <a:t>AVAILABLE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21AA8-46D3-46E2-8625-5514FC14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295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Archived slide deck</a:t>
            </a:r>
          </a:p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Aggregate metrics</a:t>
            </a:r>
          </a:p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Reported MobSF 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63491-B38A-413A-98D7-A3E6F84B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905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4453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C44536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C44536"/>
                </a:solidFill>
                <a:latin typeface="Segoe UI"/>
                <a:ea typeface="Segoe UI"/>
                <a:cs typeface="Segoe UI"/>
              </a:rPr>
              <a:t>MISSING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C3571-DAE7-4460-BCFC-43AA19F5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324350"/>
            <a:ext cx="295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Exact binary inventory</a:t>
            </a:r>
          </a:p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Per-app scan reports</a:t>
            </a:r>
          </a:p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Manual validation 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77CA2-D558-4A5A-BFFD-686608BB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05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PUBLIC 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392EB0-FC0D-48DC-81AE-DC06D348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24350"/>
            <a:ext cx="295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Reported, unverified values</a:t>
            </a:r>
          </a:p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No vendor ranking</a:t>
            </a:r>
          </a:p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No tunnel-security verdict</a:t>
            </a:r>
          </a:p>
        </p:txBody>
      </p:sp>
    </p:spTree>
    <p:extLst>
      <p:ext uri="{BB962C8B-B14F-4D97-AF65-F5344CB8AC3E}">
        <p14:creationId xmlns:p14="http://schemas.microsoft.com/office/powerpoint/2010/main" val="4149690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346C3C-F51C-4C4F-8DBC-C8DE87C2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7102E-11CD-433C-9073-36B5DCBA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REPORTED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B503A-E88A-41EB-8545-B2A3A092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Five static indicators dominated the reported cohort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156DF-9368-4083-BB3C-2A6CE95C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C3D98-D8BB-4FE5-A934-6C781D43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ANDROID VPN APPLICATION SECURITY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A01EABC-44D4-413B-B719-1893BF6B5C4A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6572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b5f8e2250f456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678FF-5F19-44A3-87AB-B7A64451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43050"/>
            <a:ext cx="3429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64472-73B3-4C63-9D4F-FD97626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>
            <a:defPPr algn="l">
              <a:defRPr sz="30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48.9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B6E1A-7728-45A0-A9EB-0E25C5B7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764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mean MobSF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49D75-E4B1-4EAD-94DA-AC69F771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19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>
            <a:defPPr algn="l">
              <a:defRPr sz="11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/100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93549-C727-4DE5-AF07-096E73DE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429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63666-D7E5-4542-AE5D-1861EC99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>
            <a:defPPr algn="l">
              <a:defRPr sz="30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6.1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98C96-8257-4068-9473-BA47E447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05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mean trackers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0E951-0971-417B-9885-DEB53582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48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>
            <a:defPPr algn="l">
              <a:defRPr sz="11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per 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6548E-D4E9-4E9E-A320-6EF84FBC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00450"/>
            <a:ext cx="3429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AF3D0-F987-4BC6-9627-9B32D296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>
            <a:defPPr algn="l">
              <a:defRPr sz="30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4.9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9EF86-EE70-426D-9E64-387A97BC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168"/>
          </a:bodyPr>
          <a:lstStyle xmlns:a="http://schemas.openxmlformats.org/drawingml/2006/main">
            <a:defPPr algn="l">
              <a:defRPr sz="12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dangerous permissions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8D841-3CD7-458F-90D2-76078B09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76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>
            <a:defPPr algn="l">
              <a:defRPr sz="11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per 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32C205-461E-4A14-9B3B-1370A7F7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29150"/>
            <a:ext cx="3429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A6DDA-D797-4EA4-B3C8-06B8BE34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43450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>
            <a:defPPr algn="l">
              <a:defRPr sz="30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D9C87-4F30-4325-A0FA-1949CF98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62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126"/>
          </a:bodyPr>
          <a:lstStyle xmlns:a="http://schemas.openxmlformats.org/drawingml/2006/main">
            <a:defPPr algn="l">
              <a:defRPr sz="12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reported low-risk apps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932AD9-E6DC-4878-B87F-033E7A81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05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>
            <a:defPPr algn="l">
              <a:defRPr sz="11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of 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CC6FB-A359-401D-8851-AF808C0C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All values are transcribed from the archived deck and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13301181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129F2D-BDD0-4692-8433-C8FDD804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9BD10-6699-43B0-81BE-449BD5C9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CLAIM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1DCBE-1826-4D16-86AE-B40F0EFF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Static indicators need context before they become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4810A-E196-4509-9030-564C79D3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6E7B4-4BFC-4D5B-B49A-3DE2D8E1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ANDROID VPN APPLICATION 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D0CD4-616E-4CD0-BD2C-AF7C4186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52700" cy="35242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440A1-FA8D-4664-90D1-47EF3EF0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CRYPTO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7CE37-3012-4001-B52E-0D08E789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1336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 SHA-1 or MD5 match does not prove weak tunnel encryption.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8F69B-F237-401A-B8A4-B3F101B6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213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8A710-D12D-4C6C-9DD7-BE8E9265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2133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Identify purpose and code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0C34A-CD99-4266-8432-E64CAE18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2552700" cy="35242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66BF0-CA60-4F6E-95C6-AC110FE0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SECRETS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CD66C-8CC4-450C-84F7-3CB7D1EA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21336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 pattern match is not automatically a live production credential.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51A92-27F3-414D-9C92-023252D3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213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2FD30-AEDB-4067-B05F-0655B499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48150"/>
            <a:ext cx="2133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608"/>
          </a:bodyPr>
          <a:lstStyle xmlns:a="http://schemas.openxmlformats.org/drawingml/2006/main">
            <a:defPPr algn="l">
              <a:defRPr sz="14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Validate scope, privilege, and reachability.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BA26C-AF47-4B37-A090-E4B8171C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76400"/>
            <a:ext cx="2552700" cy="35242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76578-807D-4D62-A7B2-16AE7A94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2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TRACKERS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AF5F33-07D2-486F-B824-1D8A2730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1336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942"/>
          </a:bodyPr>
          <a:lstStyle xmlns:a="http://schemas.openxmlformats.org/drawingml/2006/main">
            <a:defPPr algn="l">
              <a:defRPr sz="172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An SDK name does not establish harmful or unlawful processing.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39E6E-8AD6-4965-953B-B1C9C9E9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213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69373D-E657-40E8-8824-8D5E5C7B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48150"/>
            <a:ext cx="2133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076"/>
          </a:bodyPr>
          <a:lstStyle xmlns:a="http://schemas.openxmlformats.org/drawingml/2006/main">
            <a:defPPr algn="l">
              <a:defRPr sz="14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Inspect activation, data flow, notice, and consent.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50CE79-EC3A-42F1-B936-BDB9A5C0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2552700" cy="35242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EBE0DC-561A-4472-83CD-C5FFD93B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2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PERMISSIONS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4876A-8810-4BDB-930F-D376308C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57450"/>
            <a:ext cx="21336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 VPN app may legitimately need more than INTERNET.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D014A1-6531-4AA8-8E4E-19EA334F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0"/>
            <a:ext cx="213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EACC23-3CC5-4966-8655-A38974CE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48150"/>
            <a:ext cx="2133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076"/>
          </a:bodyPr>
          <a:lstStyle xmlns:a="http://schemas.openxmlformats.org/drawingml/2006/main">
            <a:defPPr algn="l">
              <a:defRPr sz="14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Map every permission to a feature and Android requirement.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8DEA4A-3D4A-484E-A67D-EF112680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3276"/>
          </a:bodyPr>
          <a:lstStyle xmlns:a="http://schemas.openxmlformats.org/drawingml/2006/main">
            <a:defPPr algn="l">
              <a:defRPr sz="1725" b="1">
                <a:solidFill>
                  <a:srgbClr val="0E315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E3154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E3154"/>
                </a:solidFill>
                <a:latin typeface="Segoe UI"/>
                <a:ea typeface="Segoe UI"/>
                <a:cs typeface="Segoe UI"/>
              </a:rPr>
              <a:t>The public edition removes vendor rankings and product recommendations that the retained evidence cannot support.</a:t>
            </a:r>
          </a:p>
        </p:txBody>
      </p:sp>
    </p:spTree>
    <p:extLst>
      <p:ext uri="{BB962C8B-B14F-4D97-AF65-F5344CB8AC3E}">
        <p14:creationId xmlns:p14="http://schemas.microsoft.com/office/powerpoint/2010/main" val="1035713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7C9719-45A7-4919-81D3-514FE767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E8F14-3063-4DCA-8B83-480B1786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ASSESSMENT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BE04D-A8ED-4C32-9682-5D3BD59A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A defensible rerun preserves the chain of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B1216-2C54-4655-B560-C70C6090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10A40-C8A1-4DFA-92A0-8871BEA7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ANDROID VPN APPLICATION 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BE1D7-B071-4E0F-B7A2-04D5752E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95500"/>
            <a:ext cx="1657350" cy="1790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1B262-0FC8-4E27-9783-4215B800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ctr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A69EE-6B65-4923-BB33-B23AF417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Authorization</a:t>
            </a:r>
          </a:p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Frozen cohort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3C0E0-9011-4D9D-96A1-EB3B0561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47950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8057"/>
          </a:bodyPr>
          <a:lstStyle xmlns:a="http://schemas.openxmlformats.org/drawingml/2006/main">
            <a:defPPr algn="ctr">
              <a:defRPr sz="25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2DA6B-B830-4BD3-94D6-0DB1DFFC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095500"/>
            <a:ext cx="1657350" cy="1790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9F8A1-E579-4BC3-82EA-75C6587A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431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ctr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IDENTIFY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9A227-D811-41AA-BF43-2B3FD2C0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194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152"/>
          </a:bodyPr>
          <a:lstStyle xmlns:a="http://schemas.openxmlformats.org/drawingml/2006/main">
            <a:def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Version + hash</a:t>
            </a:r>
          </a:p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Acquisition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0D5B1-D164-45A2-B47D-16DE9B99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47950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8057"/>
          </a:bodyPr>
          <a:lstStyle xmlns:a="http://schemas.openxmlformats.org/drawingml/2006/main">
            <a:defPPr algn="ctr">
              <a:defRPr sz="25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A43A7-AA25-4909-883E-636D3411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1657350" cy="1790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D0DB7-9F17-4A82-A68B-83F39591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431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ctr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PIN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45173-02A0-40E4-A002-E156B055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194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152"/>
          </a:bodyPr>
          <a:lstStyle xmlns:a="http://schemas.openxmlformats.org/drawingml/2006/main">
            <a:def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MobSF release</a:t>
            </a:r>
          </a:p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Container digest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39A88-EB59-400B-87A6-0DA6EEB9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47950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8057"/>
          </a:bodyPr>
          <a:lstStyle xmlns:a="http://schemas.openxmlformats.org/drawingml/2006/main">
            <a:defPPr algn="ctr">
              <a:defRPr sz="25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D1CC90-FF13-4533-864C-E6131366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1657350" cy="1790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186FC3-BC96-499C-B35A-19ECF3CF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431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ctr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SCAN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D6FE57-3466-443E-8426-DD7DC17D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194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152"/>
          </a:bodyPr>
          <a:lstStyle xmlns:a="http://schemas.openxmlformats.org/drawingml/2006/main">
            <a:def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JSON export</a:t>
            </a:r>
          </a:p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Private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4BEAD-9D0D-4DBE-8693-7C92E4B3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647950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8057"/>
          </a:bodyPr>
          <a:lstStyle xmlns:a="http://schemas.openxmlformats.org/drawingml/2006/main">
            <a:defPPr algn="ctr">
              <a:defRPr sz="25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C2A26D-A05E-4D17-B29E-B6747F3F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1657350" cy="1790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E3154"/>
          </a:solidFill>
          <a:ln xmlns:a="http://schemas.openxmlformats.org/drawingml/2006/main" w="9525">
            <a:solidFill>
              <a:srgbClr val="0E31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B6C72E-E284-4F22-A2B7-6214C6EE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ctr">
              <a:defRPr sz="1200" b="1">
                <a:solidFill>
                  <a:srgbClr val="00B8D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B8D9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0B8D9"/>
                </a:solidFill>
                <a:latin typeface="Segoe UI"/>
                <a:ea typeface="Segoe UI"/>
                <a:cs typeface="Segoe UI"/>
              </a:rPr>
              <a:t>VALIDATE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50BB7A-0FB4-43FD-BEB4-7B03C941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194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Analyst review</a:t>
            </a:r>
          </a:p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Runtime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D4013C-1635-4F95-9AD1-1D5D9E31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8057"/>
          </a:bodyPr>
          <a:lstStyle xmlns:a="http://schemas.openxmlformats.org/drawingml/2006/main">
            <a:defPPr algn="ctr">
              <a:defRPr sz="25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2CBFD5-E1BA-4F9D-AD77-AED0F1C1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095500"/>
            <a:ext cx="1657350" cy="1790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C1A598-BED8-461D-B630-EFD2D844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3431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ctr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PUBLISH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4A445-2881-4E91-95DA-2D276C51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8194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834"/>
          </a:bodyPr>
          <a:lstStyle xmlns:a="http://schemas.openxmlformats.org/drawingml/2006/main">
            <a:def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Redacted totals</a:t>
            </a:r>
          </a:p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Evidence levels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AB449B-9D43-43B8-BACF-AA79F07B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>
            <a:defPPr algn="l">
              <a:defRPr sz="1200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CONTROL PRINCIPLE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451A68-2A92-4296-B6E8-39CE9D69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3166"/>
          </a:bodyPr>
          <a:lstStyle xmlns:a="http://schemas.openxmlformats.org/drawingml/2006/main">
            <a:defPPr algn="l">
              <a:defRPr sz="21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Every conclusion must resolve to one binary, one tool configuration, and one analyst disposition.</a:t>
            </a:r>
          </a:p>
        </p:txBody>
      </p:sp>
    </p:spTree>
    <p:extLst>
      <p:ext uri="{BB962C8B-B14F-4D97-AF65-F5344CB8AC3E}">
        <p14:creationId xmlns:p14="http://schemas.microsoft.com/office/powerpoint/2010/main" val="4016019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8636F-2F7C-4865-82C0-0AE387FE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92D33-99EA-4268-8E52-91874252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EVIDENCE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4A696-D609-4589-AC72-13FF05B6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Evidence strength increases from report to runtime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EA598-D9DE-4CAF-B2A6-E0BA49EF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006AE-C15E-45BD-92D1-E51D8953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ANDROID VPN APPLICATION SECURITY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DBBF2-6456-4C4F-B1A9-385CC9BB0BA4}"/>
              </a:ext>
            </a:extLst>
          </p:cNvPr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667000"/>
                <a:gridCol w="3333750"/>
                <a:gridCol w="386715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Level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Meaning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Example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Allowed conclusion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E0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Historical aggregate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75% candidate-secret indicator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Describe the archived report only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E1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Automated static indicator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MobSF flags an exported component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Create a review lead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E2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Validated static finding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Reachable component lacks a guard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Document a code/configuration weakness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E3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Authorized runtime confirmation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Controlled test confirms impact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State demonstrated behavior and scope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44D10-25EF-4AAF-B04D-B19C384F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35"/>
          </a:bodyPr>
          <a:lstStyle xmlns:a="http://schemas.openxmlformats.org/drawingml/2006/main">
            <a:defPPr algn="l">
              <a:defRPr sz="1725" b="1">
                <a:solidFill>
                  <a:srgbClr val="0E315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E3154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E3154"/>
                </a:solidFill>
                <a:latin typeface="Segoe UI"/>
                <a:ea typeface="Segoe UI"/>
                <a:cs typeface="Segoe UI"/>
              </a:rPr>
              <a:t>The archived cohort remains E0. New scans begin at E1 and need human review before they support remediation decisions.</a:t>
            </a:r>
          </a:p>
        </p:txBody>
      </p:sp>
    </p:spTree>
    <p:extLst>
      <p:ext uri="{BB962C8B-B14F-4D97-AF65-F5344CB8AC3E}">
        <p14:creationId xmlns:p14="http://schemas.microsoft.com/office/powerpoint/2010/main" val="376919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9C2DA1-FD32-4956-964E-0B14D444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3E33C-C103-4453-9A10-DB311B7E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ANDROID VPN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A54B7-6791-4AA3-9519-F1C3EE11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The VPN client spans critical trust 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20A72-3E4F-4EA4-A2D5-AE837FF5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36849-EED4-4564-88AB-CD420430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ANDROID VPN APPLICATION 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09967-01C6-4FA1-8F6B-E3696CCD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524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79986-B407-4F8E-82EB-0336410A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USER +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7A7C4-0513-4BE3-B797-1844CE07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33600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9811"/>
          </a:bodyPr>
          <a:lstStyle xmlns:a="http://schemas.openxmlformats.org/drawingml/2006/main">
            <a:defPPr algn="ctr">
              <a:defRPr sz="24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6BAD2-C7AA-4E90-9DA9-643F983B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09750"/>
            <a:ext cx="1524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31450-B8E8-4FD6-8350-1FF2A45C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717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APP PROCESS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A65F9-35A8-4BE9-9598-8EE0E8D8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33600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9811"/>
          </a:bodyPr>
          <a:lstStyle xmlns:a="http://schemas.openxmlformats.org/drawingml/2006/main">
            <a:defPPr algn="ctr">
              <a:defRPr sz="24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7115A-9549-4322-B31E-28600A65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1524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3154"/>
          </a:solidFill>
          <a:ln xmlns:a="http://schemas.openxmlformats.org/drawingml/2006/main" w="9525">
            <a:solidFill>
              <a:srgbClr val="0E31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478D31-23FE-4A59-A3B9-DB35B748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717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532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VpnService + TUN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5B675-1CA0-4920-BD64-79FA0794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33600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9811"/>
          </a:bodyPr>
          <a:lstStyle xmlns:a="http://schemas.openxmlformats.org/drawingml/2006/main">
            <a:defPPr algn="ctr">
              <a:defRPr sz="24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BAAF1-967C-44ED-BE5B-6C9BA218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1524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AEB72-9DC6-4CC6-9EE4-3965FC01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717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510"/>
          </a:bodyPr>
          <a:lstStyle xmlns:a="http://schemas.openxmlformats.org/drawingml/2006/main">
            <a:defPPr algn="ctr">
              <a:defRPr sz="12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ENCRYPTED TUNNEL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4F3ACC-7E0D-4AE3-A776-01E1604C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9811"/>
          </a:bodyPr>
          <a:lstStyle xmlns:a="http://schemas.openxmlformats.org/drawingml/2006/main">
            <a:defPPr algn="ctr">
              <a:defRPr sz="24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14490-6F50-4703-93BF-94EB8E93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1524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2FA9DE-6697-4C60-B90A-A793996D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717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VPN GATEWAY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56C741-B107-43E4-92F9-104CA2DD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33600"/>
            <a:ext cx="24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9811"/>
          </a:bodyPr>
          <a:lstStyle xmlns:a="http://schemas.openxmlformats.org/drawingml/2006/main">
            <a:defPPr algn="ctr">
              <a:defRPr sz="24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6545E-0C62-4FFB-92C6-95A0B2AE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09750"/>
            <a:ext cx="1524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A047C-AB2A-4804-8542-7AACACD0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717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438"/>
          </a:bodyPr>
          <a:lstStyle xmlns:a="http://schemas.openxmlformats.org/drawingml/2006/main">
            <a:defPPr algn="ctr">
              <a:defRPr sz="12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CONTROL PLANE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E1CF81-717E-4025-ACA2-FEB67D01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14750"/>
            <a:ext cx="68961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2CEFE-D2EC-4735-A5F7-A5565B6C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86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>
            <a:defPPr algn="l">
              <a:defRPr sz="1125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CROSS-CUTTING DEPENDENCIES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7D26FB-B184-41AE-A0EE-C160AF0F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434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985"/>
          </a:bodyPr>
          <a:lstStyle xmlns:a="http://schemas.openxmlformats.org/drawingml/2006/main">
            <a:def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Third-party SDKs  |  local storage  |  logs  |  app signing  |  update channel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455D15-9A26-45F6-B762-B15329C4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811"/>
          </a:bodyPr>
          <a:lstStyle xmlns:a="http://schemas.openxmlformats.org/drawingml/2006/main">
            <a:defPPr algn="l">
              <a:defRPr sz="1725" b="1">
                <a:solidFill>
                  <a:srgbClr val="0E315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E3154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E3154"/>
                </a:solidFill>
                <a:latin typeface="Segoe UI"/>
                <a:ea typeface="Segoe UI"/>
                <a:cs typeface="Segoe UI"/>
              </a:rPr>
              <a:t>Static analysis sees declarations and code artifacts. Routing, DNS, TLS, and telemetry activation require runtime evidence.</a:t>
            </a:r>
          </a:p>
        </p:txBody>
      </p:sp>
    </p:spTree>
    <p:extLst>
      <p:ext uri="{BB962C8B-B14F-4D97-AF65-F5344CB8AC3E}">
        <p14:creationId xmlns:p14="http://schemas.microsoft.com/office/powerpoint/2010/main" val="930468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4668C-CAE3-4E68-8A4A-3D18ECC7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40B09-F78A-434A-B62C-29D9AADA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THREAT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4A05D-13E7-4F9F-BF60-36BF58AF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Priority abuse cases connect findings to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4219E-48CA-4775-9172-4BD8B06C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FC572-4A1E-483C-BBD9-A6151339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ANDROID VPN APPLICATION SECURITY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5729E-98D4-475E-BF52-BA01D570C4DC}"/>
              </a:ext>
            </a:extLst>
          </p:cNvPr>
          <p:cNvGraphicFramePr/>
          <p:nvPr/>
        </p:nvGraphicFramePr>
        <p:xfrm>
          <a:off xmlns:a="http://schemas.openxmlformats.org/drawingml/2006/main" x="552450" y="1485900"/>
          <a:ext xmlns:a="http://schemas.openxmlformats.org/drawingml/2006/main" cx="11087100" cy="4324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619375"/>
                <a:gridCol w="3895725"/>
                <a:gridCol w="2190750"/>
              </a:tblGrid>
              <a:tr h="61776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Abuse case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Effect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Evidence required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MASVS area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</a:tr>
              <a:tr h="617764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Tunnel bypass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Traffic leaves the intended tunnel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Routes, always-on state, packet capture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NETWORK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7764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Endpoint impersonation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Interception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TLS configuration and controlled MITM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NETWORK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</a:tr>
              <a:tr h="617764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Embedded credential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Unauthorized backend access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Live status, scope, privilege, environment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STORAGE / AUTH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7764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Exported component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Cross-app invocation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Manifest guard and proof of reachability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PLATFORM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</a:tr>
              <a:tr h="617764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Third-party telemetry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Unexpected disclosure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SDK, destination, consent, retention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PRIVACY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7764"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Compromised update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Malicious code reaches users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Signing, dependencies, SBOM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CODE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7016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73151-842B-455D-8427-59ED2B81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9AF84-DFFA-4AA5-AC72-04480938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ANDROID PERMISSIONS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F9BA4-DA4E-4FC7-A1DE-4D7AC507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Permission review needs a feature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3A743-43B0-4819-BA96-0039AC0C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55FF2-0D35-465E-BAD6-0CCFE15D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ANDROID VPN APPLICATION 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C920E-5447-4D6A-991F-AF9F91FE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5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5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555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4.9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AD9FD-5CFB-49FE-BA8B-77491AEF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reported mean dangerous permissions per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04EF5-5C7D-4358-8EC2-6A9BB481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24000"/>
            <a:ext cx="190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9F57E-5D36-40EF-813F-98FD95B50C4E}"/>
              </a:ext>
            </a:extLst>
          </p:cNvPr>
          <p:cNvGraphicFramePr/>
          <p:nvPr/>
        </p:nvGraphicFramePr>
        <p:xfrm>
          <a:off xmlns:a="http://schemas.openxmlformats.org/drawingml/2006/main" x="4857750" y="1581150"/>
          <a:ext xmlns:a="http://schemas.openxmlformats.org/drawingml/2006/main" cx="657225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429000"/>
              </a:tblGrid>
              <a:tr h="5810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Question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Does the feature require it?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Feature specification and user flow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Is it dangerous on this Android version?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Platform protection level and target SDK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Is it requested at the right time?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Runtime permission flow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Can the feature work with less access?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Alternative design and data minimization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Is collection disclosed and controlled?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Privacy notice, consent, retention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EE794-D42A-4B5E-ABA7-3D44AC39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l">
              <a:defRPr sz="1200" b="1">
                <a:solidFill>
                  <a:srgbClr val="C4453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C4453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44536"/>
                </a:solidFill>
                <a:latin typeface="Segoe UI"/>
                <a:ea typeface="Segoe UI"/>
                <a:cs typeface="Segoe UI"/>
              </a:rPr>
              <a:t>Removed claim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39A58-C003-4DE5-B603-8FCEE9A3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212"/>
          </a:bodyPr>
          <a:lstStyle xmlns:a="http://schemas.openxmlformats.org/drawingml/2006/main">
            <a:def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There is no defensible universal baseline of one permission for every Android VPN app, so the original “5× over-privileged” multiplier is not retained.</a:t>
            </a:r>
          </a:p>
        </p:txBody>
      </p:sp>
    </p:spTree>
    <p:extLst>
      <p:ext uri="{BB962C8B-B14F-4D97-AF65-F5344CB8AC3E}">
        <p14:creationId xmlns:p14="http://schemas.microsoft.com/office/powerpoint/2010/main" val="18245107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1F6474-BFAA-45A1-9075-B0E88B68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BB782-E03F-485C-AAD7-E3DCE77E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CRYPTO AND SECRETS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8A07F-BCFA-42E2-A0B7-8A3B3F96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Validate the role before assigning cryptographic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0E668-EA27-49E2-8578-DE6D4E88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90DC1-A865-4370-8C4A-133FB0F4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ANDROID VPN APPLICATION 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69015-A8E1-46FD-96CC-B3AF3BF7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D6777-CC64-427A-801C-2F17ECC9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04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LOCATE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FB178-0155-475F-8253-81EF3FA6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4859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Find the exact string, key, certificate, or call site.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9FD52-1499-466D-B468-0D8E81B5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95500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8EC2B-AA57-4B13-B745-2BC12DA2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CCA98-AF9C-45DA-985D-950557B4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00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CLASSIFY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5CB25-8B5E-4297-BC44-5A7BFBC0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Distinguish signatures, checksums, libraries, protocol use, and test assets.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ED035-B2CD-4997-9B9F-59552276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90850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DF64F-797D-4480-86B8-65E42B38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E57D4-F872-444A-BE3B-316D52E4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95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B5E80B-DA21-45A7-A2DE-7EC42915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76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Connect the artifact to a security-relevant data or authentication path.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7163C2-56DE-442E-B146-B7C26937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86200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03395F-A326-4D32-86C3-A4A374E1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167E6-3244-447B-943F-55BEFAC7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91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CONFIRM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9AF0D-A080-4AF6-A050-70F6134E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719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Use an authorized test to determine runtime use and impact.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E35119-0ECC-4213-AADB-FDE6320D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81550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278921-27A4-4DCB-A676-0C2B5659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0FDA4E-5892-4E7C-A04C-D54488FF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86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REMEDIATE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E988B4-6775-4A05-A603-0AA0D395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673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Rotate credentials or replace weak primitives with closure evidence.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AAE4D5-36B0-4DE6-84D2-603A6743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76900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F118A8-71DE-4B33-8AB1-1F122A7E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NIST recommends moving away from SHA-1 for cryptographic protection; impact still depends on the function.</a:t>
            </a:r>
          </a:p>
        </p:txBody>
      </p:sp>
    </p:spTree>
    <p:extLst>
      <p:ext uri="{BB962C8B-B14F-4D97-AF65-F5344CB8AC3E}">
        <p14:creationId xmlns:p14="http://schemas.microsoft.com/office/powerpoint/2010/main" val="11779507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9F0BE9-DE9E-496B-9CDB-8541AFA8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13BAA-CB29-485D-B9A2-F9B01D95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PRIVACY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47950-9FB4-472A-B86F-F030D688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Tracker presence starts a privacy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ACBB1-7D39-4AAD-8EAE-375DEF52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58BA6-26F1-4154-8776-E788FAB2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ANDROID VPN APPLICATION 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83B8C-AABE-4142-9712-1D43FFF4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2000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E34D1-6C2D-4705-AEFE-727213A0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SDK INVENTORY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880F8-9AF7-49E0-90DD-7DA39C8E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Which library is bundled?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89CE7-D597-4F1D-BB37-E3978D24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908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880"/>
          </a:bodyPr>
          <a:lstStyle xmlns:a="http://schemas.openxmlformats.org/drawingml/2006/main">
            <a:defPPr algn="ctr">
              <a:defRPr sz="28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CE05E-76F3-44B2-9C76-0C17E338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76450"/>
            <a:ext cx="2000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EEF0E-3FA1-4012-9DC7-FDF213A4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241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ACTIVATION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67C9B-3A3F-4880-ADAB-8B157D3D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956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When does it run?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E3EA9-7486-4010-9FFA-79553D8B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908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880"/>
          </a:bodyPr>
          <a:lstStyle xmlns:a="http://schemas.openxmlformats.org/drawingml/2006/main">
            <a:defPPr algn="ctr">
              <a:defRPr sz="28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01330-C6EF-48A7-841B-CFD14370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76450"/>
            <a:ext cx="2000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E3154"/>
          </a:solidFill>
          <a:ln xmlns:a="http://schemas.openxmlformats.org/drawingml/2006/main" w="9525">
            <a:solidFill>
              <a:srgbClr val="0E31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B7175-CA38-4542-8B2E-D16723F6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00B8D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B8D9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00B8D9"/>
                </a:solidFill>
                <a:latin typeface="Segoe UI"/>
                <a:ea typeface="Segoe UI"/>
                <a:cs typeface="Segoe UI"/>
              </a:rPr>
              <a:t>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E3B12-AF6B-42EA-A402-6795BD30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956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What fields are collected?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61415-81EF-4346-96C4-B79E4C00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908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880"/>
          </a:bodyPr>
          <a:lstStyle xmlns:a="http://schemas.openxmlformats.org/drawingml/2006/main">
            <a:defPPr algn="ctr">
              <a:defRPr sz="28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A5CD6C-BD43-4407-BAAF-D1189DA7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76450"/>
            <a:ext cx="2000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5F6519-D461-4C37-9357-44A218A0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241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DESTINATION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4AD0CC-AD5F-446F-9DBF-BB9F19F2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956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Where are they sent?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0FE882-3DA4-429D-8D1B-C959F210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908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880"/>
          </a:bodyPr>
          <a:lstStyle xmlns:a="http://schemas.openxmlformats.org/drawingml/2006/main">
            <a:defPPr algn="ctr">
              <a:defRPr sz="28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765A5-278E-4BA3-9F12-5768B0BE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76450"/>
            <a:ext cx="2000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2FA"/>
          </a:solidFill>
          <a:ln xmlns:a="http://schemas.openxmlformats.org/drawingml/2006/main" w="9525">
            <a:solidFill>
              <a:srgbClr val="CFDC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813C02-B708-4DCD-8054-C7AE759F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241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GOVERNANCE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4497E4-F994-4622-8409-45214923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956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Notice, consent, retention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DB2920-C266-4C22-A70D-E23AABDD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004"/>
          </a:bodyPr>
          <a:lstStyle xmlns:a="http://schemas.openxmlformats.org/drawingml/2006/main">
            <a:defPPr algn="l">
              <a:defRPr sz="202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6.1 trackers per app was the reported mean. The retained evidence does not show which SDKs activated, what they transmitted, or whether processing matched disclosure and consent.</a:t>
            </a:r>
          </a:p>
        </p:txBody>
      </p:sp>
    </p:spTree>
    <p:extLst>
      <p:ext uri="{BB962C8B-B14F-4D97-AF65-F5344CB8AC3E}">
        <p14:creationId xmlns:p14="http://schemas.microsoft.com/office/powerpoint/2010/main" val="7760911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5A12C-F949-4D16-8C5C-7BFE92F8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5728B-8E2F-4F25-B7B3-4C69C880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REMEDIATION BACKLOG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AFF28-F3C8-4686-BED6-0D4A17C7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Prioritize validated exposure and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978EC-EC8C-4FE1-B18C-CE1E1FFB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3E84C-7491-4902-A83D-612940EA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ANDROID VPN APPLICATION SECURITY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338BD-28E6-4658-AAA7-BEB74E59C141}"/>
              </a:ext>
            </a:extLst>
          </p:cNvPr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108204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5810250"/>
                <a:gridCol w="3867150"/>
              </a:tblGrid>
              <a:tr h="5595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Priority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Action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Closure 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T w="9525">
                      <a:solidFill>
                        <a:srgbClr val="CFDCE7"/>
                      </a:solidFill>
                      <a:prstDash val="solid"/>
                    </a:lnT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0E3154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P0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Rotate a validated embedded production credential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Rotation record + regression scan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P0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Correct endpoint authentication failure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Negative TLS + trusted-endpoint tests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P0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Remove cleartext sensitive-data transmission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Runtime traffic 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P1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Protect exported components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Manifest diff + component tests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P1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Verify routes, DNS, always-on, and lockdown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Device test + packet-capture summary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P1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Minimize and justify permissions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Permission matrix + runtime check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E7F2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P2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CE7"/>
                      </a:solidFill>
                      <a:prstDash val="solid"/>
                    </a:lnL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Reduce telemetry and document retained SDKs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263A"/>
                          </a:solidFill>
                          <a:latin typeface="Segoe UI"/>
                          <a:ea typeface="Segoe UI"/>
                          <a:cs typeface="Segoe UI"/>
                        </a:rPr>
                        <a:t>Data-flow map + consent 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CE7"/>
                      </a:solidFill>
                      <a:prstDash val="solid"/>
                    </a:lnR>
                    <a:lnB w="9525">
                      <a:solidFill>
                        <a:srgbClr val="CFDC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15652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A8810-8CB1-4FB4-845D-E6DDCA81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D96FA-52B9-41FD-AFAE-C2846AC4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305F5-C45D-405B-A3E2-0D50999B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The repository makes a new run reviewable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84819-870C-4156-9C3F-6A3990FD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2102E-A324-44C7-B357-B8B04968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ANDROID VPN APPLICATION 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E69B6-25D9-4508-943D-39453C41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F9D7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F9D7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F9D75"/>
                </a:solidFill>
                <a:latin typeface="Segoe UI"/>
                <a:ea typeface="Segoe UI"/>
                <a:cs typeface="Segoe UI"/>
              </a:rPr>
              <a:t>INCLUDED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C9A75-82F3-4F2E-AEC1-9E58EEE0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905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Reported metrics CSV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App inventory template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Finding register template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MobSF JSON normalizer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Aggregate validator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Threat model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Remediation backlog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57B08-33F4-480F-8BF1-DDAEF8B5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96D1A-6622-409B-B832-FCDE1F7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C4453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C44536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C44536"/>
                </a:solidFill>
                <a:latin typeface="Segoe UI"/>
                <a:ea typeface="Segoe UI"/>
                <a:cs typeface="Segoe UI"/>
              </a:rPr>
              <a:t>KEPT PRIVATE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BD140-55BA-4B36-B38B-F6CA7BD2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572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APK and app bundles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Raw reports with candidate secrets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Credentials and tokens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User traffic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VPN profiles</a:t>
            </a:r>
          </a:p>
          <a:p xmlns:a="http://schemas.openxmlformats.org/drawingml/2006/main">
            <a:pPr algn="l">
              <a:defRPr sz="187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Unredacted runtime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BCDF5-3F86-4114-8943-FF9A8B5D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>
            <a:defPPr algn="l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Quick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A1AE1-A056-42F5-9FA6-AE0D0C92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768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719"/>
          </a:bodyPr>
          <a:lstStyle xmlns:a="http://schemas.openxmlformats.org/drawingml/2006/main">
            <a:defPPr algn="l">
              <a:defRPr sz="1350" b="1">
                <a:solidFill>
                  <a:srgbClr val="0E3154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E3154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E3154"/>
                </a:solidFill>
                <a:latin typeface="Consolas"/>
                <a:ea typeface="Consolas"/>
                <a:cs typeface="Consolas"/>
              </a:rPr>
              <a:t>python src/validate_reported_findings.py</a:t>
            </a:r>
          </a:p>
        </p:txBody>
      </p:sp>
    </p:spTree>
    <p:extLst>
      <p:ext uri="{BB962C8B-B14F-4D97-AF65-F5344CB8AC3E}">
        <p14:creationId xmlns:p14="http://schemas.microsoft.com/office/powerpoint/2010/main" val="13061544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3C00DF-26E8-4073-9167-1950C6F2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ED3A2-5508-44A8-823F-EB60BCEA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50C57-19D2-4195-B760-552E482E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A homelab run can close the largest evidence gaps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BD46F-BFB4-4BDA-A6EB-A580EB23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437F0-EAEC-4732-A3F1-C0206909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ANDROID VPN APPLICATION 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7786C-81B3-4A3F-A2FF-CA5BB84D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433B6-6D08-40DA-A2E1-A74C1714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90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FREEZE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6243E-EF27-4559-B953-ADEA0BD9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716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730"/>
          </a:bodyPr>
          <a:lstStyle xmlns:a="http://schemas.openxmlformats.org/drawingml/2006/main">
            <a:def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Choose a small authorized cohort. Record versions, hashes, and acquisition dates.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149EF-D0D8-420D-BF5B-B3D790F9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81200"/>
            <a:ext cx="946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99C25-1278-4B1D-8DDC-ED67273C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2E24C-AF87-4549-A92E-6EEE94F8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24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SCAN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2B116-0FAF-45BD-87F8-00BCC46E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050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Run a pinned MobSF image. Export JSON and keep raw evidence private.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0EFE2-42C2-4D6B-9766-0B20EBE4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14650"/>
            <a:ext cx="946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3E058-CBCB-4A0F-9009-59BD7958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2DE994-44E9-4EF4-BE39-BBB16CFC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57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5B7FB4-81FD-40F0-A51A-EF8A568E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385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43"/>
          </a:bodyPr>
          <a:lstStyle xmlns:a="http://schemas.openxmlformats.org/drawingml/2006/main">
            <a:def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Review permissions, components, crypto context, candidate secrets, and trackers.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CBC44-36C8-4277-BB00-9BC8C0B2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48100"/>
            <a:ext cx="946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EE4DB-7786-485C-929E-F6466D72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0FF44D-3E12-40CC-80CD-54D98AA8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91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0E3C69-B7CF-48EE-9155-A320AFB1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719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84"/>
          </a:bodyPr>
          <a:lstStyle xmlns:a="http://schemas.openxmlformats.org/drawingml/2006/main">
            <a:def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Use an emulator/device for routes, DNS, TLS, telemetry, reconnects, and logging.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303C9-3901-4C05-8F6A-FD123463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81550"/>
            <a:ext cx="946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F3991-3495-4BC6-AA96-1CCE6C5B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>
                <a:solidFill>
                  <a:srgbClr val="1E88E5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4413ED-4AF9-497C-B39B-DACDAB23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24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PUBLISH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CBBD60-114A-4F28-9328-C9BAAB59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054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Release sanitized evidence, closure tests, and a versioned remediation report.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421758-F474-44AA-8046-E5BBC698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15000"/>
            <a:ext cx="946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880554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570BC-9454-42DB-8367-1C59D88B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20253-475C-4A4D-A7FF-4DEC9D80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>
            <a:def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C3357-6215-4BA6-A772-7645993D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263A"/>
                </a:solidFill>
                <a:latin typeface="Bahnschrift"/>
                <a:ea typeface="Bahnschrift"/>
                <a:cs typeface="Bahnschrift"/>
              </a:rPr>
              <a:t>References and provenance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F3B92-2CC6-41F8-B9DF-BBC6AF19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>
            <a:def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EB88D-FA07-4C29-825D-46539AE5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536B80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536B80"/>
                </a:solidFill>
                <a:latin typeface="Segoe UI"/>
                <a:ea typeface="Segoe UI"/>
                <a:cs typeface="Segoe UI"/>
              </a:rPr>
              <a:t>ANDROID VPN APPLICATION 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8EC0C-2846-4538-9D56-2CF2BBA1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l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E88E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E88E5"/>
                </a:solidFill>
                <a:latin typeface="Segoe UI"/>
                <a:ea typeface="Segoe UI"/>
                <a:cs typeface="Segoe UI"/>
              </a:rPr>
              <a:t>PRIMARY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4322A-FA86-48FB-8DCC-20B0576D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2390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Android Developers</a:t>
            </a:r>
          </a:p>
          <a:p xmlns:a="http://schemas.openxmlformats.org/drawingml/2006/main">
            <a:pPr algn="l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VPN developer guide and VpnService API reference</a:t>
            </a:r>
          </a:p>
          <a:p xmlns:a="http://schemas.openxmlformats.org/drawingml/2006/main">
            <a:pPr algn="l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developer.android.com/develop/connectivity/vpn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Mobile Security Framework</a:t>
            </a:r>
          </a:p>
          <a:p xmlns:a="http://schemas.openxmlformats.org/drawingml/2006/main">
            <a:pPr algn="l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MobSF documentation and source repository</a:t>
            </a:r>
          </a:p>
          <a:p xmlns:a="http://schemas.openxmlformats.org/drawingml/2006/main">
            <a:pPr algn="l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mobsf.github.io/docs  |  github.com/MobSF/Mobile-Security-Framework-MobSF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OWASP Mobile Application Security</a:t>
            </a:r>
          </a:p>
          <a:p xmlns:a="http://schemas.openxmlformats.org/drawingml/2006/main">
            <a:pPr algn="l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MASVS and MASVS-NETWORK</a:t>
            </a:r>
          </a:p>
          <a:p xmlns:a="http://schemas.openxmlformats.org/drawingml/2006/main">
            <a:pPr algn="l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mas.owasp.org/MASVS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NIST</a:t>
            </a:r>
          </a:p>
          <a:p xmlns:a="http://schemas.openxmlformats.org/drawingml/2006/main">
            <a:pPr algn="l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Policy on Hash Functions</a:t>
            </a:r>
          </a:p>
          <a:p xmlns:a="http://schemas.openxmlformats.org/drawingml/2006/main">
            <a:pPr algn="l">
              <a:defRPr sz="1425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csrc.nist.gov/Projects/Hash-Functions/NIST-Policy-on-Hash-Functions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04BFF-3A5C-4DD1-BF36-4D920325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85900"/>
            <a:ext cx="190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BFF32-8C47-4BF5-B300-6B8B4E4B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485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 algn="l">
              <a:defRPr sz="1200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59E0B"/>
                </a:solidFill>
                <a:latin typeface="Segoe UI"/>
                <a:ea typeface="Segoe UI"/>
                <a:cs typeface="Segoe UI"/>
              </a:rPr>
              <a:t>PROVENANCE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EC404-1721-4EDF-B68B-8009C82A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62150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778"/>
          </a:bodyPr>
          <a:lstStyle xmlns:a="http://schemas.openxmlformats.org/drawingml/2006/main">
            <a:defPPr algn="l">
              <a:defRPr sz="150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1263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1263A"/>
                </a:solidFill>
                <a:latin typeface="Segoe UI"/>
                <a:ea typeface="Segoe UI"/>
                <a:cs typeface="Segoe UI"/>
              </a:rPr>
              <a:t>The original Greek presentation was collaborative university coursework by Spiros Grouztidis and two classmates. Their names and student identifiers are omitted from this public edition.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CC8CE-8EF3-4BD0-947F-E4F6CFF0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243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450"/>
          </a:bodyPr>
          <a:lstStyle xmlns:a="http://schemas.openxmlformats.org/drawingml/2006/main">
            <a:defPPr algn="l">
              <a:defRPr sz="1425" b="1">
                <a:solidFill>
                  <a:srgbClr val="0E315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3154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0E3154"/>
                </a:solidFill>
                <a:latin typeface="Segoe UI"/>
                <a:ea typeface="Segoe UI"/>
                <a:cs typeface="Segoe UI"/>
              </a:rPr>
              <a:t>English rewrite, claim audit, reproducibility workflow, code, threat model, report, and presentation: Spiros Grouztidis.</a:t>
            </a:r>
          </a:p>
        </p:txBody>
      </p:sp>
    </p:spTree>
    <p:extLst>
      <p:ext uri="{BB962C8B-B14F-4D97-AF65-F5344CB8AC3E}">
        <p14:creationId xmlns:p14="http://schemas.microsoft.com/office/powerpoint/2010/main" val="1549251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2026-10-15T20:28:09.5030000Z</dcterms:created>
  <dcterms:modified xsi:type="dcterms:W3CDTF">2026-10-15T20:28:09.5030000Z</dcterms:modified>
</coreProperties>
</file>